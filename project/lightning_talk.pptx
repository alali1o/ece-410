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61520" cy="292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"/>
            <a:ext cx="8686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TERNARY KWS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Always-On Keyword Spotting on Silicon  ·  ECE 410/510  ·  Spring 2026  ·  Manaf Alali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04672"/>
            <a:ext cx="7132320" cy="57424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804672"/>
            <a:ext cx="4480560" cy="5742432"/>
          </a:xfrm>
          <a:prstGeom prst="rect">
            <a:avLst/>
          </a:prstGeom>
          <a:solidFill>
            <a:srgbClr val="0F214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804672"/>
            <a:ext cx="54864" cy="114848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52944" y="804672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0375" y="832104"/>
            <a:ext cx="182880" cy="1828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0375" y="827532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5" y="832104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38BDF8"/>
                </a:solidFill>
                <a:latin typeface="Arial"/>
              </a:rPr>
              <a:t>What Am I Doing?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52944" y="1060704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99248" y="1106424"/>
            <a:ext cx="59436" cy="5943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1074420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Custom chip: hears a spoken keyword, always-on, battery-powered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1399336"/>
            <a:ext cx="59436" cy="5943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1367332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Weights are only −1, 0, or +1 — no multiplication needed</a:t>
            </a:r>
          </a:p>
        </p:txBody>
      </p:sp>
      <p:sp>
        <p:nvSpPr>
          <p:cNvPr id="18" name="Oval 17"/>
          <p:cNvSpPr/>
          <p:nvPr/>
        </p:nvSpPr>
        <p:spPr>
          <a:xfrm>
            <a:off x="7699248" y="1692249"/>
            <a:ext cx="59436" cy="5943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1544" y="1660245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Ten keywords, non-stop, under 1 mW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945843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953158"/>
            <a:ext cx="54864" cy="114848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52944" y="1953158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0375" y="1980590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5" y="197601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5" y="1980590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2DD4BF"/>
                </a:solidFill>
                <a:latin typeface="Arial"/>
              </a:rPr>
              <a:t>How's It Done?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2944" y="2209190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9248" y="2254910"/>
            <a:ext cx="59436" cy="5943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81544" y="2222906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Standard approach: CPU/GPU — accurate but power-hungry</a:t>
            </a:r>
          </a:p>
        </p:txBody>
      </p:sp>
      <p:sp>
        <p:nvSpPr>
          <p:cNvPr id="29" name="Oval 28"/>
          <p:cNvSpPr/>
          <p:nvPr/>
        </p:nvSpPr>
        <p:spPr>
          <a:xfrm>
            <a:off x="7699248" y="2547823"/>
            <a:ext cx="59436" cy="5943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81544" y="2515819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Others built specialized chips on ARM processors (Rusci 2020)</a:t>
            </a:r>
          </a:p>
        </p:txBody>
      </p:sp>
      <p:sp>
        <p:nvSpPr>
          <p:cNvPr id="31" name="Oval 30"/>
          <p:cNvSpPr/>
          <p:nvPr/>
        </p:nvSpPr>
        <p:spPr>
          <a:xfrm>
            <a:off x="7699248" y="2840736"/>
            <a:ext cx="59436" cy="5943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81544" y="2808732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Key insight: keep weights on-chip, avoid slow external memory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3094329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3101644"/>
            <a:ext cx="54864" cy="114848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52944" y="3101644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80375" y="3129076"/>
            <a:ext cx="182880" cy="1828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5" y="3124504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08975" y="3129076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4ADE80"/>
                </a:solidFill>
                <a:latin typeface="Arial"/>
              </a:rPr>
              <a:t>What Am I Doing Differently?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52944" y="3357676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99248" y="3403396"/>
            <a:ext cx="59436" cy="5943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81544" y="3371392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On-chip storage flips the bottleneck: memory → compute (see roofline)</a:t>
            </a:r>
          </a:p>
        </p:txBody>
      </p:sp>
      <p:sp>
        <p:nvSpPr>
          <p:cNvPr id="42" name="Oval 41"/>
          <p:cNvSpPr/>
          <p:nvPr/>
        </p:nvSpPr>
        <p:spPr>
          <a:xfrm>
            <a:off x="7699248" y="3696309"/>
            <a:ext cx="59436" cy="5943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81544" y="3664305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Weights ±1/0 replace all multipliers with add or subtract</a:t>
            </a:r>
          </a:p>
        </p:txBody>
      </p:sp>
      <p:sp>
        <p:nvSpPr>
          <p:cNvPr id="44" name="Oval 43"/>
          <p:cNvSpPr/>
          <p:nvPr/>
        </p:nvSpPr>
        <p:spPr>
          <a:xfrm>
            <a:off x="7699248" y="3989222"/>
            <a:ext cx="59436" cy="5943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81544" y="3957218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Built in SystemVerilog with SPI — plugs into any microcontroller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4242816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4250131"/>
            <a:ext cx="54864" cy="114848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52944" y="4250131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0375" y="4277563"/>
            <a:ext cx="182880" cy="1828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0375" y="4272991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8975" y="4277563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FB923C"/>
                </a:solidFill>
                <a:latin typeface="Arial"/>
              </a:rPr>
              <a:t>Accomplished So Far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52944" y="4506163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99248" y="4551883"/>
            <a:ext cx="59436" cy="5943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81544" y="4519879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SW baseline: 0.44 ms/inference, bottlenecked by memory — confirmed</a:t>
            </a:r>
          </a:p>
        </p:txBody>
      </p:sp>
      <p:sp>
        <p:nvSpPr>
          <p:cNvPr id="55" name="Oval 54"/>
          <p:cNvSpPr/>
          <p:nvPr/>
        </p:nvSpPr>
        <p:spPr>
          <a:xfrm>
            <a:off x="7699248" y="4844796"/>
            <a:ext cx="59436" cy="5943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81544" y="4812791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Math core + SPI interface written and working in simulation</a:t>
            </a:r>
          </a:p>
        </p:txBody>
      </p:sp>
      <p:sp>
        <p:nvSpPr>
          <p:cNvPr id="57" name="Oval 56"/>
          <p:cNvSpPr/>
          <p:nvPr/>
        </p:nvSpPr>
        <p:spPr>
          <a:xfrm>
            <a:off x="7699248" y="5137708"/>
            <a:ext cx="59436" cy="5943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81544" y="5105704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All 4 outputs match expected values; SPI read &amp; write pass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98079" y="5391302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98079" y="5398617"/>
            <a:ext cx="54864" cy="114848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52944" y="5398617"/>
            <a:ext cx="4425696" cy="256032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80375" y="5426049"/>
            <a:ext cx="182880" cy="1828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80375" y="5421477"/>
            <a:ext cx="182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5426049"/>
            <a:ext cx="40965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F87171"/>
                </a:solidFill>
                <a:latin typeface="Arial"/>
              </a:rPr>
              <a:t>What's Next?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2944" y="5654649"/>
            <a:ext cx="4425696" cy="731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699248" y="5700369"/>
            <a:ext cx="59436" cy="5943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81544" y="5668365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Run synthesis to get real chip area, power &amp; speed numbers</a:t>
            </a:r>
          </a:p>
        </p:txBody>
      </p:sp>
      <p:sp>
        <p:nvSpPr>
          <p:cNvPr id="68" name="Oval 67"/>
          <p:cNvSpPr/>
          <p:nvPr/>
        </p:nvSpPr>
        <p:spPr>
          <a:xfrm>
            <a:off x="7699248" y="5993282"/>
            <a:ext cx="59436" cy="5943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81544" y="5961278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Compare HW vs SW performance — target more than 100× faster</a:t>
            </a:r>
          </a:p>
        </p:txBody>
      </p:sp>
      <p:sp>
        <p:nvSpPr>
          <p:cNvPr id="70" name="Oval 69"/>
          <p:cNvSpPr/>
          <p:nvPr/>
        </p:nvSpPr>
        <p:spPr>
          <a:xfrm>
            <a:off x="7699248" y="6286195"/>
            <a:ext cx="59436" cy="5943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81544" y="6254191"/>
            <a:ext cx="4151376" cy="283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CBD5E1"/>
                </a:solidFill>
                <a:latin typeface="Calibri"/>
              </a:rPr>
              <a:t>Success: synthesizable design, ≥92% accuracy, under 1 mW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56248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FC1: 1960→512, 2M FLOPs, 251 KB ternary weights on-chip  |  AI = 0.50 (SW) → 406 FLOP/byte (HW)  |  github.com/alali1o/ECE-410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
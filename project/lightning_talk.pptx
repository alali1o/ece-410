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6152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61520" cy="731520"/>
          </a:xfrm>
          <a:prstGeom prst="rect">
            <a:avLst/>
          </a:prstGeom>
          <a:solidFill>
            <a:srgbClr val="0F21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61520" cy="292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36576"/>
            <a:ext cx="868680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rial"/>
              </a:rPr>
              <a:t>TERNARY KWS ACCELERATOR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457200"/>
            <a:ext cx="10058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Always-On Keyword Spotting on Silicon  ·  ECE 410/510  ·  Spring 2026  ·  Manaf Alali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804672"/>
            <a:ext cx="7132320" cy="5742432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498079" y="804672"/>
            <a:ext cx="4480560" cy="5742432"/>
          </a:xfrm>
          <a:prstGeom prst="rect">
            <a:avLst/>
          </a:prstGeom>
          <a:solidFill>
            <a:srgbClr val="0F2147"/>
          </a:solidFill>
          <a:ln w="635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98079" y="804672"/>
            <a:ext cx="54864" cy="114848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552944" y="804672"/>
            <a:ext cx="4425696" cy="256032"/>
          </a:xfrm>
          <a:prstGeom prst="rect">
            <a:avLst/>
          </a:prstGeom>
          <a:solidFill>
            <a:srgbClr val="14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580375" y="832104"/>
            <a:ext cx="182880" cy="182880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0375" y="827532"/>
            <a:ext cx="1828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08975" y="832104"/>
            <a:ext cx="409651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>
                <a:solidFill>
                  <a:srgbClr val="38BDF8"/>
                </a:solidFill>
                <a:latin typeface="Arial"/>
              </a:rPr>
              <a:t>What Am I Doing?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552944" y="1060704"/>
            <a:ext cx="4425696" cy="7315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699248" y="1106424"/>
            <a:ext cx="59436" cy="59436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81544" y="1074420"/>
            <a:ext cx="4151376" cy="4302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>
                <a:solidFill>
                  <a:srgbClr val="CBD5E1"/>
                </a:solidFill>
                <a:latin typeface="Calibri"/>
              </a:rPr>
              <a:t>Custom chip: hears a spoken keyword, always-on, battery-powered</a:t>
            </a:r>
          </a:p>
        </p:txBody>
      </p:sp>
      <p:sp>
        <p:nvSpPr>
          <p:cNvPr id="16" name="Oval 15"/>
          <p:cNvSpPr/>
          <p:nvPr/>
        </p:nvSpPr>
        <p:spPr>
          <a:xfrm>
            <a:off x="7699248" y="1545793"/>
            <a:ext cx="59436" cy="59436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81544" y="1513789"/>
            <a:ext cx="4151376" cy="4302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>
                <a:solidFill>
                  <a:srgbClr val="CBD5E1"/>
                </a:solidFill>
                <a:latin typeface="Calibri"/>
              </a:rPr>
              <a:t>Weights are only −1, 0, or +1 — no multiplication needed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498079" y="1945843"/>
            <a:ext cx="4480560" cy="10972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498079" y="1953158"/>
            <a:ext cx="54864" cy="1148486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552944" y="1953158"/>
            <a:ext cx="4425696" cy="256032"/>
          </a:xfrm>
          <a:prstGeom prst="rect">
            <a:avLst/>
          </a:prstGeom>
          <a:solidFill>
            <a:srgbClr val="14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580375" y="1980590"/>
            <a:ext cx="182880" cy="182880"/>
          </a:xfrm>
          <a:prstGeom prst="ellipse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80375" y="1976018"/>
            <a:ext cx="1828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08975" y="1980590"/>
            <a:ext cx="409651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>
                <a:solidFill>
                  <a:srgbClr val="2DD4BF"/>
                </a:solidFill>
                <a:latin typeface="Arial"/>
              </a:rPr>
              <a:t>How's It Done?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552944" y="2209190"/>
            <a:ext cx="4425696" cy="7315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699248" y="2254910"/>
            <a:ext cx="59436" cy="59436"/>
          </a:xfrm>
          <a:prstGeom prst="ellipse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81544" y="2222906"/>
            <a:ext cx="4151376" cy="4302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>
                <a:solidFill>
                  <a:srgbClr val="CBD5E1"/>
                </a:solidFill>
                <a:latin typeface="Calibri"/>
              </a:rPr>
              <a:t>Standard approach: CPU/GPU — accurate but power-hungry</a:t>
            </a:r>
          </a:p>
        </p:txBody>
      </p:sp>
      <p:sp>
        <p:nvSpPr>
          <p:cNvPr id="27" name="Oval 26"/>
          <p:cNvSpPr/>
          <p:nvPr/>
        </p:nvSpPr>
        <p:spPr>
          <a:xfrm>
            <a:off x="7699248" y="2694279"/>
            <a:ext cx="59436" cy="59436"/>
          </a:xfrm>
          <a:prstGeom prst="ellipse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81544" y="2662275"/>
            <a:ext cx="4151376" cy="4302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>
                <a:solidFill>
                  <a:srgbClr val="CBD5E1"/>
                </a:solidFill>
                <a:latin typeface="Calibri"/>
              </a:rPr>
              <a:t>Key insight: keep weights on-chip, avoid slow external memory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98079" y="3094329"/>
            <a:ext cx="4480560" cy="10972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498079" y="3101644"/>
            <a:ext cx="54864" cy="1148486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552944" y="3101644"/>
            <a:ext cx="4425696" cy="256032"/>
          </a:xfrm>
          <a:prstGeom prst="rect">
            <a:avLst/>
          </a:prstGeom>
          <a:solidFill>
            <a:srgbClr val="14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580375" y="3129076"/>
            <a:ext cx="182880" cy="182880"/>
          </a:xfrm>
          <a:prstGeom prst="ellipse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580375" y="3124504"/>
            <a:ext cx="1828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08975" y="3129076"/>
            <a:ext cx="409651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>
                <a:solidFill>
                  <a:srgbClr val="4ADE80"/>
                </a:solidFill>
                <a:latin typeface="Arial"/>
              </a:rPr>
              <a:t>What Am I Doing Differently?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552944" y="3357676"/>
            <a:ext cx="4425696" cy="7315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699248" y="3403396"/>
            <a:ext cx="59436" cy="59436"/>
          </a:xfrm>
          <a:prstGeom prst="ellipse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781544" y="3371392"/>
            <a:ext cx="4151376" cy="4302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>
                <a:solidFill>
                  <a:srgbClr val="CBD5E1"/>
                </a:solidFill>
                <a:latin typeface="Calibri"/>
              </a:rPr>
              <a:t>On-chip storage flips the bottleneck: memory → compute (see roofline)</a:t>
            </a:r>
          </a:p>
        </p:txBody>
      </p:sp>
      <p:sp>
        <p:nvSpPr>
          <p:cNvPr id="38" name="Oval 37"/>
          <p:cNvSpPr/>
          <p:nvPr/>
        </p:nvSpPr>
        <p:spPr>
          <a:xfrm>
            <a:off x="7699248" y="3842765"/>
            <a:ext cx="59436" cy="59436"/>
          </a:xfrm>
          <a:prstGeom prst="ellipse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781544" y="3810761"/>
            <a:ext cx="4151376" cy="4302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>
                <a:solidFill>
                  <a:srgbClr val="CBD5E1"/>
                </a:solidFill>
                <a:latin typeface="Calibri"/>
              </a:rPr>
              <a:t>Weights ±1/0 replace all multipliers with add or subtract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498079" y="4242816"/>
            <a:ext cx="4480560" cy="10972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498079" y="4250131"/>
            <a:ext cx="54864" cy="1148486"/>
          </a:xfrm>
          <a:prstGeom prst="rect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552944" y="4250131"/>
            <a:ext cx="4425696" cy="256032"/>
          </a:xfrm>
          <a:prstGeom prst="rect">
            <a:avLst/>
          </a:prstGeom>
          <a:solidFill>
            <a:srgbClr val="14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7580375" y="4277563"/>
            <a:ext cx="182880" cy="182880"/>
          </a:xfrm>
          <a:prstGeom prst="ellipse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580375" y="4272991"/>
            <a:ext cx="1828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808975" y="4277563"/>
            <a:ext cx="409651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>
                <a:solidFill>
                  <a:srgbClr val="FB923C"/>
                </a:solidFill>
                <a:latin typeface="Arial"/>
              </a:rPr>
              <a:t>Accomplished So Far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552944" y="4506163"/>
            <a:ext cx="4425696" cy="7315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7699248" y="4551883"/>
            <a:ext cx="59436" cy="59436"/>
          </a:xfrm>
          <a:prstGeom prst="ellipse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781544" y="4519879"/>
            <a:ext cx="4151376" cy="4302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>
                <a:solidFill>
                  <a:srgbClr val="CBD5E1"/>
                </a:solidFill>
                <a:latin typeface="Calibri"/>
              </a:rPr>
              <a:t>SW: 0.44 ms/inference, confirmed bottlenecked by memory</a:t>
            </a:r>
          </a:p>
        </p:txBody>
      </p:sp>
      <p:sp>
        <p:nvSpPr>
          <p:cNvPr id="49" name="Oval 48"/>
          <p:cNvSpPr/>
          <p:nvPr/>
        </p:nvSpPr>
        <p:spPr>
          <a:xfrm>
            <a:off x="7699248" y="4991252"/>
            <a:ext cx="59436" cy="59436"/>
          </a:xfrm>
          <a:prstGeom prst="ellipse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781544" y="4959248"/>
            <a:ext cx="4151376" cy="4302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>
                <a:solidFill>
                  <a:srgbClr val="CBD5E1"/>
                </a:solidFill>
                <a:latin typeface="Calibri"/>
              </a:rPr>
              <a:t>Math core + SPI interface written and working in simulation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498079" y="5391302"/>
            <a:ext cx="4480560" cy="10972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98079" y="5398617"/>
            <a:ext cx="54864" cy="1148486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552944" y="5398617"/>
            <a:ext cx="4425696" cy="256032"/>
          </a:xfrm>
          <a:prstGeom prst="rect">
            <a:avLst/>
          </a:prstGeom>
          <a:solidFill>
            <a:srgbClr val="14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7580375" y="5426049"/>
            <a:ext cx="182880" cy="182880"/>
          </a:xfrm>
          <a:prstGeom prst="ellipse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580375" y="5421477"/>
            <a:ext cx="1828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808975" y="5426049"/>
            <a:ext cx="409651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>
                <a:solidFill>
                  <a:srgbClr val="F87171"/>
                </a:solidFill>
                <a:latin typeface="Arial"/>
              </a:rPr>
              <a:t>What's Next?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552944" y="5654649"/>
            <a:ext cx="4425696" cy="7315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7699248" y="5700369"/>
            <a:ext cx="59436" cy="59436"/>
          </a:xfrm>
          <a:prstGeom prst="ellipse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781544" y="5668365"/>
            <a:ext cx="4151376" cy="4302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>
                <a:solidFill>
                  <a:srgbClr val="CBD5E1"/>
                </a:solidFill>
                <a:latin typeface="Calibri"/>
              </a:rPr>
              <a:t>Run synthesis → real chip area, power &amp; speed numbers</a:t>
            </a:r>
          </a:p>
        </p:txBody>
      </p:sp>
      <p:sp>
        <p:nvSpPr>
          <p:cNvPr id="60" name="Oval 59"/>
          <p:cNvSpPr/>
          <p:nvPr/>
        </p:nvSpPr>
        <p:spPr>
          <a:xfrm>
            <a:off x="7699248" y="6139738"/>
            <a:ext cx="59436" cy="59436"/>
          </a:xfrm>
          <a:prstGeom prst="ellipse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781544" y="6107734"/>
            <a:ext cx="4151376" cy="4302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>
                <a:solidFill>
                  <a:srgbClr val="CBD5E1"/>
                </a:solidFill>
                <a:latin typeface="Calibri"/>
              </a:rPr>
              <a:t>Compare HW vs SW — target more than 100× faster</a:t>
            </a:r>
          </a:p>
        </p:txBody>
      </p:sp>
      <p:sp>
        <p:nvSpPr>
          <p:cNvPr id="62" name="Rectangle 61"/>
          <p:cNvSpPr/>
          <p:nvPr/>
        </p:nvSpPr>
        <p:spPr>
          <a:xfrm>
            <a:off x="0" y="6547104"/>
            <a:ext cx="12161520" cy="310896"/>
          </a:xfrm>
          <a:prstGeom prst="rect">
            <a:avLst/>
          </a:prstGeom>
          <a:solidFill>
            <a:srgbClr val="0F21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274320" y="6556248"/>
            <a:ext cx="116128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Calibri"/>
              </a:rPr>
              <a:t>FC1: 1960→512, 2M FLOPs, 251 KB ternary weights on-chip  |  AI = 0.50 (SW) → 406 FLOP/byte (HW)  |  github.com/alali1o/ECE-410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
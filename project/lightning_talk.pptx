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615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F21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61520" cy="292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36576"/>
            <a:ext cx="86868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TERNARY KWS ACCELERATOR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57200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Always-On Keyword Spotting on Silicon  ·  ECE 410/510  ·  Spring 2026  ·  Manaf Alali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804672"/>
            <a:ext cx="7132320" cy="57424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498079" y="804672"/>
            <a:ext cx="4480560" cy="5742432"/>
          </a:xfrm>
          <a:prstGeom prst="rect">
            <a:avLst/>
          </a:prstGeom>
          <a:solidFill>
            <a:srgbClr val="0F2147"/>
          </a:solidFill>
          <a:ln w="63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804672"/>
            <a:ext cx="54864" cy="114848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52944" y="804672"/>
            <a:ext cx="4425696" cy="292608"/>
          </a:xfrm>
          <a:prstGeom prst="rect">
            <a:avLst/>
          </a:prstGeom>
          <a:solidFill>
            <a:srgbClr val="14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0375" y="841248"/>
            <a:ext cx="201168" cy="20116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0375" y="832104"/>
            <a:ext cx="2011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27263" y="841248"/>
            <a:ext cx="407822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What Am I Doing?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52944" y="1097280"/>
            <a:ext cx="4425696" cy="914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699248" y="1152144"/>
            <a:ext cx="68580" cy="685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90688" y="1115568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Custom ASIC: 'Hey Alexa'-style KWS on a tiny IoT chip</a:t>
            </a:r>
          </a:p>
        </p:txBody>
      </p:sp>
      <p:sp>
        <p:nvSpPr>
          <p:cNvPr id="16" name="Oval 15"/>
          <p:cNvSpPr/>
          <p:nvPr/>
        </p:nvSpPr>
        <p:spPr>
          <a:xfrm>
            <a:off x="7699248" y="1431340"/>
            <a:ext cx="68580" cy="685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1394764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Ternary weights: −1, 0, +1 only — no multipliers</a:t>
            </a:r>
          </a:p>
        </p:txBody>
      </p:sp>
      <p:sp>
        <p:nvSpPr>
          <p:cNvPr id="18" name="Oval 17"/>
          <p:cNvSpPr/>
          <p:nvPr/>
        </p:nvSpPr>
        <p:spPr>
          <a:xfrm>
            <a:off x="7699248" y="1710537"/>
            <a:ext cx="68580" cy="685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1673961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10-class Google Speech Commands, &lt;1 mW always-on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1945843"/>
            <a:ext cx="4480560" cy="109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1953158"/>
            <a:ext cx="54864" cy="114848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52944" y="1953158"/>
            <a:ext cx="4425696" cy="292608"/>
          </a:xfrm>
          <a:prstGeom prst="rect">
            <a:avLst/>
          </a:prstGeom>
          <a:solidFill>
            <a:srgbClr val="14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0375" y="1989734"/>
            <a:ext cx="201168" cy="201168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0375" y="1980590"/>
            <a:ext cx="2011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27263" y="1989734"/>
            <a:ext cx="407822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2DD4BF"/>
                </a:solidFill>
                <a:latin typeface="Arial"/>
              </a:rPr>
              <a:t>How's It Done?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52944" y="2245766"/>
            <a:ext cx="4425696" cy="914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99248" y="2300630"/>
            <a:ext cx="68580" cy="6858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90688" y="2264054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Prior art: PyTorch on CPU/GPU — accurate but memory-bound</a:t>
            </a:r>
          </a:p>
        </p:txBody>
      </p:sp>
      <p:sp>
        <p:nvSpPr>
          <p:cNvPr id="29" name="Oval 28"/>
          <p:cNvSpPr/>
          <p:nvPr/>
        </p:nvSpPr>
        <p:spPr>
          <a:xfrm>
            <a:off x="7699248" y="2579827"/>
            <a:ext cx="68580" cy="6858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8" y="2543251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BNN/TNN (Rusci 2020): XNOR+popcount on ARM Cortex-M</a:t>
            </a:r>
          </a:p>
        </p:txBody>
      </p:sp>
      <p:sp>
        <p:nvSpPr>
          <p:cNvPr id="31" name="Oval 30"/>
          <p:cNvSpPr/>
          <p:nvPr/>
        </p:nvSpPr>
        <p:spPr>
          <a:xfrm>
            <a:off x="7699248" y="2859024"/>
            <a:ext cx="68580" cy="6858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90688" y="2822448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On-chip weight SRAM avoids DRAM bandwidth wall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3094329"/>
            <a:ext cx="4480560" cy="109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3101644"/>
            <a:ext cx="54864" cy="114848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552944" y="3101644"/>
            <a:ext cx="4425696" cy="292608"/>
          </a:xfrm>
          <a:prstGeom prst="rect">
            <a:avLst/>
          </a:prstGeom>
          <a:solidFill>
            <a:srgbClr val="14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580375" y="3138220"/>
            <a:ext cx="201168" cy="20116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80375" y="3129076"/>
            <a:ext cx="2011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27263" y="3138220"/>
            <a:ext cx="407822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4ADE80"/>
                </a:solidFill>
                <a:latin typeface="Arial"/>
              </a:rPr>
              <a:t>What Am I Doing Differently?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52944" y="3394252"/>
            <a:ext cx="4425696" cy="914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699248" y="3449116"/>
            <a:ext cx="68580" cy="6858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90688" y="3412540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Arithmetic intensity: 0.50 → 406 FLOP/byte (roofline flip)</a:t>
            </a:r>
          </a:p>
        </p:txBody>
      </p:sp>
      <p:sp>
        <p:nvSpPr>
          <p:cNvPr id="42" name="Oval 41"/>
          <p:cNvSpPr/>
          <p:nvPr/>
        </p:nvSpPr>
        <p:spPr>
          <a:xfrm>
            <a:off x="7699248" y="3728313"/>
            <a:ext cx="68580" cy="6858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90688" y="3691737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Eliminates ALL multipliers — ternary MAC = pure adder tree</a:t>
            </a:r>
          </a:p>
        </p:txBody>
      </p:sp>
      <p:sp>
        <p:nvSpPr>
          <p:cNvPr id="44" name="Oval 43"/>
          <p:cNvSpPr/>
          <p:nvPr/>
        </p:nvSpPr>
        <p:spPr>
          <a:xfrm>
            <a:off x="7699248" y="4007510"/>
            <a:ext cx="68580" cy="6858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90688" y="3970934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Parametric SystemVerilog + SPI slave for drop-in MCU use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98079" y="4242816"/>
            <a:ext cx="4480560" cy="109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98079" y="4250131"/>
            <a:ext cx="54864" cy="1148486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552944" y="4250131"/>
            <a:ext cx="4425696" cy="292608"/>
          </a:xfrm>
          <a:prstGeom prst="rect">
            <a:avLst/>
          </a:prstGeom>
          <a:solidFill>
            <a:srgbClr val="14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580375" y="4286707"/>
            <a:ext cx="201168" cy="201168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80375" y="4277563"/>
            <a:ext cx="2011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27263" y="4286707"/>
            <a:ext cx="407822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FB923C"/>
                </a:solidFill>
                <a:latin typeface="Arial"/>
              </a:rPr>
              <a:t>Accomplished So Far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52944" y="4542739"/>
            <a:ext cx="4425696" cy="914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699248" y="4597603"/>
            <a:ext cx="68580" cy="6858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90688" y="4561027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SW baseline: 4.91 GFLOP/s, 0.44 ms/inf, AI=0.50 confirmed</a:t>
            </a:r>
          </a:p>
        </p:txBody>
      </p:sp>
      <p:sp>
        <p:nvSpPr>
          <p:cNvPr id="55" name="Oval 54"/>
          <p:cNvSpPr/>
          <p:nvPr/>
        </p:nvSpPr>
        <p:spPr>
          <a:xfrm>
            <a:off x="7699248" y="4876800"/>
            <a:ext cx="68580" cy="6858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90688" y="4840224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RTL done: compute_core.sv + spi_slave.sv (SPI Mode 0)</a:t>
            </a:r>
          </a:p>
        </p:txBody>
      </p:sp>
      <p:sp>
        <p:nvSpPr>
          <p:cNvPr id="57" name="Oval 56"/>
          <p:cNvSpPr/>
          <p:nvPr/>
        </p:nvSpPr>
        <p:spPr>
          <a:xfrm>
            <a:off x="7699248" y="5155996"/>
            <a:ext cx="68580" cy="6858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90688" y="5119420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Testbenches PASS: 4/4 MAC outputs + SPI write/read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498079" y="5391302"/>
            <a:ext cx="4480560" cy="109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498079" y="5398617"/>
            <a:ext cx="54864" cy="1148486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552944" y="5398617"/>
            <a:ext cx="4425696" cy="292608"/>
          </a:xfrm>
          <a:prstGeom prst="rect">
            <a:avLst/>
          </a:prstGeom>
          <a:solidFill>
            <a:srgbClr val="14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580375" y="5435193"/>
            <a:ext cx="201168" cy="201168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80375" y="5426049"/>
            <a:ext cx="2011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27263" y="5435193"/>
            <a:ext cx="407822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F87171"/>
                </a:solidFill>
                <a:latin typeface="Arial"/>
              </a:rPr>
              <a:t>What's Next?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552944" y="5691225"/>
            <a:ext cx="4425696" cy="914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699248" y="5746089"/>
            <a:ext cx="68580" cy="6858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790688" y="5709513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M3: OpenLane 2 ASIC synthesis → area, power, timing</a:t>
            </a:r>
          </a:p>
        </p:txBody>
      </p:sp>
      <p:sp>
        <p:nvSpPr>
          <p:cNvPr id="68" name="Oval 67"/>
          <p:cNvSpPr/>
          <p:nvPr/>
        </p:nvSpPr>
        <p:spPr>
          <a:xfrm>
            <a:off x="7699248" y="6025286"/>
            <a:ext cx="68580" cy="6858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90688" y="5988710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M4: HW vs SW speedup for FC1 kernel (target &gt;100×)</a:t>
            </a:r>
          </a:p>
        </p:txBody>
      </p:sp>
      <p:sp>
        <p:nvSpPr>
          <p:cNvPr id="70" name="Oval 69"/>
          <p:cNvSpPr/>
          <p:nvPr/>
        </p:nvSpPr>
        <p:spPr>
          <a:xfrm>
            <a:off x="7699248" y="6304483"/>
            <a:ext cx="68580" cy="6858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790688" y="6267907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Success = synthesizable, ≥92% KWS accuracy, &lt;1 mW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F21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74320" y="6556248"/>
            <a:ext cx="11612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FC1: 1960→512, 2M FLOPs, 251 KB ternary weights on-chip  |  AI = 0.50 (SW) → 406 FLOP/byte (HW)  |  github.com/alali1o/ECE-410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
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6152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TERNARY KWS ACCELERATOR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937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Always-On Keyword Spotting on Silicon  ·  ECE 410/510  ·  Spring 2026  ·  Manaf Alali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86968"/>
            <a:ext cx="1737360" cy="5376672"/>
          </a:xfrm>
          <a:prstGeom prst="rect">
            <a:avLst/>
          </a:prstGeom>
          <a:solidFill>
            <a:srgbClr val="0F2147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86968"/>
            <a:ext cx="59436" cy="53766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9476" y="886968"/>
            <a:ext cx="1677924" cy="713232"/>
          </a:xfrm>
          <a:prstGeom prst="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932688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8BDF8"/>
                </a:solidFill>
                <a:latin typeface="Arial"/>
              </a:rPr>
              <a:t>What Am I
Doing?</a:t>
            </a:r>
          </a:p>
        </p:txBody>
      </p:sp>
      <p:sp>
        <p:nvSpPr>
          <p:cNvPr id="10" name="Oval 9"/>
          <p:cNvSpPr/>
          <p:nvPr/>
        </p:nvSpPr>
        <p:spPr>
          <a:xfrm>
            <a:off x="438912" y="1801368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09928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Custom ASIC for 'Hey Alexa'-style keyword spotting on tiny IoT devices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3081528"/>
            <a:ext cx="1554480" cy="1188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" y="3291840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200400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Ternary weights: only −1, 0, +1 — no multipliers, pure adder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4572000"/>
            <a:ext cx="1554480" cy="1188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" y="4782312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690872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10-class Google Speech Commands, target &lt;1 mW always-on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886968"/>
            <a:ext cx="1737360" cy="5376672"/>
          </a:xfrm>
          <a:prstGeom prst="rect">
            <a:avLst/>
          </a:prstGeom>
          <a:solidFill>
            <a:srgbClr val="0F2147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67128" y="886968"/>
            <a:ext cx="59436" cy="53766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26564" y="886968"/>
            <a:ext cx="1677924" cy="713232"/>
          </a:xfrm>
          <a:prstGeom prst="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856" y="932688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DD4BF"/>
                </a:solidFill>
                <a:latin typeface="Arial"/>
              </a:rPr>
              <a:t>How's It
Done?</a:t>
            </a:r>
          </a:p>
        </p:txBody>
      </p:sp>
      <p:sp>
        <p:nvSpPr>
          <p:cNvPr id="22" name="Oval 21"/>
          <p:cNvSpPr/>
          <p:nvPr/>
        </p:nvSpPr>
        <p:spPr>
          <a:xfrm>
            <a:off x="2286000" y="1801368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14016" y="1709928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Prior art: PyTorch on CPU/GPU — accurate but power-hungry &amp; memory-bound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58568" y="3081528"/>
            <a:ext cx="1554480" cy="1188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86000" y="3291840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4016" y="3200400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BNN/TNN accelerators (Rusci 2020): XNOR+popcount on ARM Cortex-M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58568" y="4572000"/>
            <a:ext cx="1554480" cy="1188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86000" y="4782312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14016" y="4690872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Key: on-chip weight SRAM avoids DRAM bandwidth bottleneck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4215" y="886968"/>
            <a:ext cx="1737360" cy="5376672"/>
          </a:xfrm>
          <a:prstGeom prst="rect">
            <a:avLst/>
          </a:prstGeom>
          <a:solidFill>
            <a:srgbClr val="0F2147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4215" y="886968"/>
            <a:ext cx="59436" cy="537667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73652" y="886968"/>
            <a:ext cx="1677924" cy="713232"/>
          </a:xfrm>
          <a:prstGeom prst="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23944" y="932688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4ADE80"/>
                </a:solidFill>
                <a:latin typeface="Arial"/>
              </a:rPr>
              <a:t>What Am I Doing
Differently?</a:t>
            </a:r>
          </a:p>
        </p:txBody>
      </p:sp>
      <p:sp>
        <p:nvSpPr>
          <p:cNvPr id="34" name="Oval 33"/>
          <p:cNvSpPr/>
          <p:nvPr/>
        </p:nvSpPr>
        <p:spPr>
          <a:xfrm>
            <a:off x="4133087" y="1801368"/>
            <a:ext cx="82296" cy="8229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61104" y="1709928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Roofline flip: AI 0.50 → 406 FLOP/byte (memory-bound → compute-bound)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05655" y="3081528"/>
            <a:ext cx="1554480" cy="1188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33087" y="3291840"/>
            <a:ext cx="82296" cy="8229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1104" y="3200400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Eliminates ALL multipliers — ternary MAC = pure adder tree, ~20× smaller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05655" y="4572000"/>
            <a:ext cx="1554480" cy="1188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33087" y="4782312"/>
            <a:ext cx="82296" cy="8229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4" y="4690872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SPI slave interface; drop-in MCU integration; parametric SystemVerilog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61304" y="886968"/>
            <a:ext cx="1737360" cy="5376672"/>
          </a:xfrm>
          <a:prstGeom prst="rect">
            <a:avLst/>
          </a:prstGeom>
          <a:solidFill>
            <a:srgbClr val="0F2147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61304" y="886968"/>
            <a:ext cx="59436" cy="53766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20740" y="886968"/>
            <a:ext cx="1677924" cy="713232"/>
          </a:xfrm>
          <a:prstGeom prst="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71032" y="932688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B923C"/>
                </a:solidFill>
                <a:latin typeface="Arial"/>
              </a:rPr>
              <a:t>Accomplished
So Far</a:t>
            </a:r>
          </a:p>
        </p:txBody>
      </p:sp>
      <p:sp>
        <p:nvSpPr>
          <p:cNvPr id="46" name="Oval 45"/>
          <p:cNvSpPr/>
          <p:nvPr/>
        </p:nvSpPr>
        <p:spPr>
          <a:xfrm>
            <a:off x="5980176" y="1801368"/>
            <a:ext cx="82296" cy="8229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08192" y="1709928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SW baseline: 4.91 GFLOP/s, 0.44 ms/inference, AI=0.50 confirmed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52744" y="3081528"/>
            <a:ext cx="1554480" cy="1188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80176" y="3291840"/>
            <a:ext cx="82296" cy="8229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08192" y="3200400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RTL done: compute_core.sv (ternary MAC) + spi_slave.sv (SPI Mode 0)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52744" y="4572000"/>
            <a:ext cx="1554480" cy="1188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80176" y="4782312"/>
            <a:ext cx="82296" cy="8229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08192" y="4690872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Both testbenches PASS: 4/4 MAC outputs + SPI write/read verified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08392" y="886968"/>
            <a:ext cx="1737360" cy="5376672"/>
          </a:xfrm>
          <a:prstGeom prst="rect">
            <a:avLst/>
          </a:prstGeom>
          <a:solidFill>
            <a:srgbClr val="0F2147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08392" y="886968"/>
            <a:ext cx="59436" cy="53766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67827" y="886968"/>
            <a:ext cx="1677924" cy="713232"/>
          </a:xfrm>
          <a:prstGeom prst="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18119" y="932688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87171"/>
                </a:solidFill>
                <a:latin typeface="Arial"/>
              </a:rPr>
              <a:t>What's
Next?</a:t>
            </a:r>
          </a:p>
        </p:txBody>
      </p:sp>
      <p:sp>
        <p:nvSpPr>
          <p:cNvPr id="58" name="Oval 57"/>
          <p:cNvSpPr/>
          <p:nvPr/>
        </p:nvSpPr>
        <p:spPr>
          <a:xfrm>
            <a:off x="7827264" y="1801368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79" y="1709928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M3: OpenLane 2 ASIC synthesis → real area, power &amp; timing reports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99831" y="3081528"/>
            <a:ext cx="1554480" cy="1188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27264" y="3291840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79" y="3200400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M4: Benchmark HW vs. SW speedup for FC1 (target: &gt;100×)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99831" y="4572000"/>
            <a:ext cx="1554480" cy="1188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27264" y="4782312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55279" y="4690872"/>
            <a:ext cx="1435607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Success = synthesizable design, ≥92% KWS accuracy, &lt;1 mW active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91472" y="886968"/>
            <a:ext cx="2441448" cy="5376672"/>
          </a:xfrm>
          <a:prstGeom prst="rect">
            <a:avLst/>
          </a:prstGeom>
          <a:solidFill>
            <a:srgbClr val="0F2147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91472" y="941832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Arial"/>
              </a:rPr>
              <a:t>Roofline Analysis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1252728"/>
            <a:ext cx="2350008" cy="3291840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9555480" y="4590288"/>
            <a:ext cx="1129284" cy="1188720"/>
          </a:xfrm>
          <a:prstGeom prst="rect">
            <a:avLst/>
          </a:prstGeom>
          <a:solidFill>
            <a:srgbClr val="142038"/>
          </a:solidFill>
          <a:ln w="508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01200" y="4681727"/>
            <a:ext cx="103784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ADE80"/>
                </a:solidFill>
                <a:latin typeface="Arial"/>
              </a:rPr>
              <a:t>4× smaller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5248655"/>
            <a:ext cx="10378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Calibri"/>
              </a:rPr>
              <a:t>weight storage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776204" y="4590288"/>
            <a:ext cx="1129284" cy="1188720"/>
          </a:xfrm>
          <a:prstGeom prst="rect">
            <a:avLst/>
          </a:prstGeom>
          <a:solidFill>
            <a:srgbClr val="142038"/>
          </a:solidFill>
          <a:ln w="508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21924" y="4681727"/>
            <a:ext cx="103784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87171"/>
                </a:solidFill>
                <a:latin typeface="Arial"/>
              </a:rPr>
              <a:t>&gt;100× target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21924" y="5248655"/>
            <a:ext cx="10378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Calibri"/>
              </a:rPr>
              <a:t>speedup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F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6556248"/>
            <a:ext cx="11521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FC1 kernel: 1960→512, 2M FLOPs, 251 KB ternary weights fit on-chip  |  github.com/alali1o/ECE-410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